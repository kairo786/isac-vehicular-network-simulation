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A3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09B635-B8ED-4D5C-BDBF-7078DD26867B}" v="11" dt="2026-04-18T11:43:39.801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30" autoAdjust="0"/>
    <p:restoredTop sz="94660"/>
  </p:normalViewPr>
  <p:slideViewPr>
    <p:cSldViewPr snapToGrid="0">
      <p:cViewPr>
        <p:scale>
          <a:sx n="75" d="100"/>
          <a:sy n="75" d="100"/>
        </p:scale>
        <p:origin x="322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F4745-C330-4599-582E-28D83630FD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8A739F-E4B9-5BF0-5560-30A8512914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0BDE6-8932-667F-4FEF-8FC47652A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3481-01CF-4783-B819-ECEBDBF9F9A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479CC-F4B3-4555-D07F-DA44A9FD7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B67B8-49F1-3DA3-3C30-8A99AA5AA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17E4-3F95-4ADD-8E04-3E06DD4E1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271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917C7-A376-918E-9345-1EC46003A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8F347-E69D-FF0C-5CFB-4BB34F2CB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7D082-2023-FCAE-3428-80C7E94F5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3481-01CF-4783-B819-ECEBDBF9F9A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F7F44-C80B-368D-6B5B-7082DA716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49216-59B4-0486-5E0A-5BA5A78F5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17E4-3F95-4ADD-8E04-3E06DD4E1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860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DB4EA-6104-B759-5B85-C5B6893A9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B0322-30FC-CD38-CA6E-41AB58D3C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E51F9-F60C-B0A5-DA43-9FE4A8501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3481-01CF-4783-B819-ECEBDBF9F9A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7B043-D00D-017D-9DFB-3131C144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F3E5D-B4C3-156C-A914-D9A98F8A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17E4-3F95-4ADD-8E04-3E06DD4E1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1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8DA9D-0966-A362-D5DE-A8B59A110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24E69-C7FD-39B6-4F8E-62E79D62A3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26EAE6-2A3D-C020-613D-A3465B375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8DE580-F0DF-10D6-8880-600CF82DB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3481-01CF-4783-B819-ECEBDBF9F9A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317C0-510E-9D2C-4C42-C77580E33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EE8E9-2B24-A6A4-891F-701EDE079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17E4-3F95-4ADD-8E04-3E06DD4E1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29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399DE-6FE5-30D8-F31A-3AC447B4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6D139-97EA-AC83-401D-50B091A52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DDD2F-77C1-EC0B-28B3-9F8E0960B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C62E0-63EA-06B0-7CE1-88BF7D746A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AB45-80AC-E229-BEF1-679DB4F31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0D96F1-7C8E-5843-8505-365E74230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3481-01CF-4783-B819-ECEBDBF9F9A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CE91ED-EF7C-BC26-2E26-246D9DFB0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697BB9-D00C-F3E8-0C7D-2E53DAD20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17E4-3F95-4ADD-8E04-3E06DD4E1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952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5E623-5846-AB2C-DEE6-BCF878FD6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2E76B6-172E-CB0C-56A5-55A67D557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3481-01CF-4783-B819-ECEBDBF9F9A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49A49-908B-F57F-0764-C821AE091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7CFE4-E472-F374-CDCA-17C3132D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17E4-3F95-4ADD-8E04-3E06DD4E1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21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A7B8BE-0882-0368-DAA0-7AED18891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3481-01CF-4783-B819-ECEBDBF9F9A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82B6C-CE24-7CCA-7E66-852C78A96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AC40A-EB45-49F6-0978-C249BA46C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17E4-3F95-4ADD-8E04-3E06DD4E1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654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1DED-4468-B624-C238-7BDE7C4DF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E589F-C00B-7E9A-7F86-30EAFBC13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9C422-D662-3D93-8321-EBD18CCC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274A3-7DF7-6BA0-6535-FDE2828C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3481-01CF-4783-B819-ECEBDBF9F9A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6EE4D-4636-FB5B-C138-D1A94A793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3F31E-EB6D-1CA6-21E0-18CABE1F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17E4-3F95-4ADD-8E04-3E06DD4E1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947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76B5A-D31D-B0C1-029D-FC4B9F646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15B3DA-FB9C-05E8-371E-FE581011E5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74417-672A-11B7-06AA-9F89FCC8D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B9D5B-54CD-4C4E-8B68-51F4440BC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3481-01CF-4783-B819-ECEBDBF9F9A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1B0B6-3E47-2E17-C8F5-936B97D88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02D4E-8401-ECB9-48C3-B2F1B70BA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17E4-3F95-4ADD-8E04-3E06DD4E1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511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52DD7-3C5D-F12F-A0DF-BF43A9AC2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DABFD7-87BF-17C0-23B1-6738FDA81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4CFCB-59ED-6CEC-536F-A56482FC7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3481-01CF-4783-B819-ECEBDBF9F9A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28F46-6002-791C-9923-C7E02D4C8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A2C4B-A7E0-D217-E365-0D27A3EA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17E4-3F95-4ADD-8E04-3E06DD4E1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197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63A2E-047E-D2C6-D400-E788368E4A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1619F0-5296-57A8-776F-A51A16889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F469A-2A6A-5159-A012-CC027B60A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3481-01CF-4783-B819-ECEBDBF9F9A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448E2-40E4-64E8-8ED2-02D57443B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39989-5FA6-15CB-7F74-256CD8B0F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17E4-3F95-4ADD-8E04-3E06DD4E1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626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A3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C9049E-8E4A-D2CE-DE19-D4F6C7481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23F8B-062C-6CE2-9FD6-47BB9108B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2FE66-1EA5-49A7-BDF4-0C8D7921D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D3481-01CF-4783-B819-ECEBDBF9F9A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C680F-A46B-E163-7333-AD96F20E5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A1FE8-87CC-13D6-C935-0AECB7B2ED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517E4-3F95-4ADD-8E04-3E06DD4E1D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2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kairo786/Isac-vehicular-network-simulation.git" TargetMode="Externa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A7029-FD9A-663B-5610-1DC2C49C3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269" y="914399"/>
            <a:ext cx="5296260" cy="3249039"/>
          </a:xfrm>
        </p:spPr>
        <p:txBody>
          <a:bodyPr>
            <a:normAutofit fontScale="90000"/>
          </a:bodyPr>
          <a:lstStyle/>
          <a:p>
            <a:pPr algn="l">
              <a:lnSpc>
                <a:spcPct val="100000"/>
              </a:lnSpc>
            </a:pPr>
            <a:r>
              <a:rPr lang="en-US" sz="3600" b="1" dirty="0">
                <a:latin typeface="Book Antiqua" panose="02040602050305030304" pitchFamily="18" charset="0"/>
              </a:rPr>
              <a:t>Joint Sensing-Communication Performance Analysis</a:t>
            </a:r>
            <a:br>
              <a:rPr lang="en-US" sz="3600" b="1" dirty="0">
                <a:latin typeface="Book Antiqua" panose="02040602050305030304" pitchFamily="18" charset="0"/>
              </a:rPr>
            </a:br>
            <a:r>
              <a:rPr lang="en-US" sz="3600" b="1" dirty="0">
                <a:latin typeface="Book Antiqua" panose="02040602050305030304" pitchFamily="18" charset="0"/>
              </a:rPr>
              <a:t>in ISAC-enabled</a:t>
            </a:r>
            <a:br>
              <a:rPr lang="en-US" sz="3600" b="1" dirty="0">
                <a:latin typeface="Book Antiqua" panose="02040602050305030304" pitchFamily="18" charset="0"/>
              </a:rPr>
            </a:br>
            <a:r>
              <a:rPr lang="en-US" sz="3600" b="1" dirty="0">
                <a:latin typeface="Book Antiqua" panose="02040602050305030304" pitchFamily="18" charset="0"/>
              </a:rPr>
              <a:t>Vehicular Networks</a:t>
            </a:r>
            <a:br>
              <a:rPr lang="en-US" b="1" dirty="0">
                <a:latin typeface="Book Antiqua"/>
                <a:ea typeface="Libre Baskerville" pitchFamily="34" charset="-122"/>
                <a:cs typeface="Libre Baskerville" pitchFamily="34" charset="-120"/>
              </a:rPr>
            </a:br>
            <a:endParaRPr lang="en-IN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98EB6B5-B325-8DDC-DF60-6E302782892F}"/>
              </a:ext>
            </a:extLst>
          </p:cNvPr>
          <p:cNvSpPr txBox="1"/>
          <p:nvPr/>
        </p:nvSpPr>
        <p:spPr>
          <a:xfrm>
            <a:off x="7034269" y="4163438"/>
            <a:ext cx="5003259" cy="1885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Algerian" panose="04020705040A02060702" pitchFamily="82" charset="0"/>
              </a:rPr>
              <a:t>Name   : Ankit  Kumar Kero</a:t>
            </a:r>
            <a:br>
              <a:rPr lang="en-IN" sz="2000" dirty="0">
                <a:latin typeface="Algerian" panose="04020705040A02060702" pitchFamily="82" charset="0"/>
              </a:rPr>
            </a:br>
            <a:r>
              <a:rPr lang="en-IN" sz="2000" dirty="0">
                <a:latin typeface="Algerian" panose="04020705040A02060702" pitchFamily="82" charset="0"/>
              </a:rPr>
              <a:t>Roll no : 2302CM07</a:t>
            </a:r>
            <a:br>
              <a:rPr lang="en-IN" sz="2000" dirty="0">
                <a:latin typeface="Algerian" panose="04020705040A02060702" pitchFamily="82" charset="0"/>
              </a:rPr>
            </a:br>
            <a:r>
              <a:rPr lang="en-IN" sz="2000" dirty="0">
                <a:latin typeface="Algerian" panose="04020705040A02060702" pitchFamily="82" charset="0"/>
              </a:rPr>
              <a:t>Course : </a:t>
            </a:r>
            <a:r>
              <a:rPr lang="en-US" sz="2000" dirty="0">
                <a:latin typeface="Algerian" panose="04020705040A02060702" pitchFamily="82" charset="0"/>
              </a:rPr>
              <a:t>EC3205: Introduction of Wireless Communications</a:t>
            </a:r>
            <a:endParaRPr lang="en-IN" sz="2000" dirty="0">
              <a:latin typeface="Algerian" panose="04020705040A02060702" pitchFamily="82" charset="0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D37D9280-A39F-DCD1-BBE3-E72788F17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" y="548641"/>
            <a:ext cx="5650549" cy="550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39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AEC23-FAD6-491B-F57A-32581096D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latin typeface="Book Antiqua" panose="02040602050305030304" pitchFamily="18" charset="0"/>
              </a:rPr>
              <a:t>Problem Statement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78385D-32FA-8A91-2999-A5ABE4924C69}"/>
              </a:ext>
            </a:extLst>
          </p:cNvPr>
          <p:cNvSpPr txBox="1"/>
          <p:nvPr/>
        </p:nvSpPr>
        <p:spPr>
          <a:xfrm>
            <a:off x="6374861" y="648527"/>
            <a:ext cx="57198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   </a:t>
            </a:r>
            <a:r>
              <a:rPr lang="en-US" sz="3200" b="1" u="sng" dirty="0">
                <a:latin typeface="Book Antiqua" panose="02040602050305030304" pitchFamily="18" charset="0"/>
              </a:rPr>
              <a:t>Objective of this Work: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ptos" panose="020B0004020202020204" pitchFamily="34" charset="0"/>
              </a:rPr>
              <a:t>To </a:t>
            </a:r>
            <a:r>
              <a:rPr lang="en-US" b="1" dirty="0">
                <a:latin typeface="Aptos" panose="020B0004020202020204" pitchFamily="34" charset="0"/>
              </a:rPr>
              <a:t>simulate</a:t>
            </a:r>
            <a:r>
              <a:rPr lang="en-US" dirty="0">
                <a:latin typeface="Aptos" panose="020B0004020202020204" pitchFamily="34" charset="0"/>
              </a:rPr>
              <a:t> an ISAC-enabled vehicular network and evaluate: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Probability of Successful Sensing (PSP)</a:t>
            </a:r>
            <a:r>
              <a:rPr lang="en-US" dirty="0">
                <a:latin typeface="Aptos" panose="020B000402020202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Communication Coverage Probability (CCP)</a:t>
            </a:r>
            <a:r>
              <a:rPr lang="en-US" dirty="0">
                <a:latin typeface="Aptos" panose="020B000402020202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Joint Sensing-Communication Performance (JPISAC)</a:t>
            </a:r>
            <a:r>
              <a:rPr lang="en-US" dirty="0">
                <a:latin typeface="Aptos" panose="020B00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en-US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ptos" panose="020B0004020202020204" pitchFamily="34" charset="0"/>
              </a:rPr>
              <a:t>To </a:t>
            </a:r>
            <a:r>
              <a:rPr lang="en-US" b="1" dirty="0">
                <a:latin typeface="Aptos" panose="020B0004020202020204" pitchFamily="34" charset="0"/>
              </a:rPr>
              <a:t>analyze the trade-off</a:t>
            </a:r>
            <a:r>
              <a:rPr lang="en-US" dirty="0">
                <a:latin typeface="Aptos" panose="020B0004020202020204" pitchFamily="34" charset="0"/>
              </a:rPr>
              <a:t> between sensing and communication caused by: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ptos" panose="020B0004020202020204" pitchFamily="34" charset="0"/>
              </a:rPr>
              <a:t>          shared resources and interference</a:t>
            </a:r>
          </a:p>
          <a:p>
            <a:endParaRPr lang="en-IN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58C2F78-2D13-2EB7-5B4B-5DD395DA7499}"/>
              </a:ext>
            </a:extLst>
          </p:cNvPr>
          <p:cNvSpPr/>
          <p:nvPr/>
        </p:nvSpPr>
        <p:spPr>
          <a:xfrm>
            <a:off x="6517532" y="5282119"/>
            <a:ext cx="321013" cy="2042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ED2450-F800-2164-31AE-D3B2EC1D5FAA}"/>
              </a:ext>
            </a:extLst>
          </p:cNvPr>
          <p:cNvSpPr txBox="1"/>
          <p:nvPr/>
        </p:nvSpPr>
        <p:spPr>
          <a:xfrm>
            <a:off x="982494" y="1439370"/>
            <a:ext cx="48346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modern vehicular networks, </a:t>
            </a:r>
            <a:r>
              <a:rPr lang="en-US" b="1" dirty="0"/>
              <a:t>Road Side Units (RSUs)</a:t>
            </a:r>
            <a:r>
              <a:rPr lang="en-US" dirty="0"/>
              <a:t> are required to perform: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Sensing</a:t>
            </a:r>
            <a:r>
              <a:rPr lang="en-US" dirty="0"/>
              <a:t> (environment detection)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Communication</a:t>
            </a:r>
            <a:r>
              <a:rPr lang="en-US" dirty="0"/>
              <a:t> (data transmission) 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9FB90D-8801-377D-833C-B50BC73F549A}"/>
              </a:ext>
            </a:extLst>
          </p:cNvPr>
          <p:cNvSpPr txBox="1"/>
          <p:nvPr/>
        </p:nvSpPr>
        <p:spPr>
          <a:xfrm>
            <a:off x="982494" y="2568103"/>
            <a:ext cx="48346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Due to </a:t>
            </a:r>
            <a:r>
              <a:rPr lang="en-US" b="1" dirty="0"/>
              <a:t>random spatial distribution</a:t>
            </a:r>
            <a:r>
              <a:rPr lang="en-US" dirty="0"/>
              <a:t> of: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Roads (modeled as </a:t>
            </a:r>
            <a:r>
              <a:rPr lang="en-US" b="1" dirty="0"/>
              <a:t>Poisson Line Process</a:t>
            </a:r>
            <a:r>
              <a:rPr lang="en-US" dirty="0"/>
              <a:t>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RSUs (modeled as </a:t>
            </a:r>
            <a:r>
              <a:rPr lang="en-US" b="1" dirty="0"/>
              <a:t>Poisson Point Process</a:t>
            </a:r>
            <a:r>
              <a:rPr lang="en-US" dirty="0"/>
              <a:t>) </a:t>
            </a:r>
          </a:p>
          <a:p>
            <a:pPr>
              <a:lnSpc>
                <a:spcPct val="150000"/>
              </a:lnSpc>
            </a:pPr>
            <a:r>
              <a:rPr lang="en-US" dirty="0"/>
              <a:t>  the network becomes </a:t>
            </a:r>
            <a:r>
              <a:rPr lang="en-US" b="1" dirty="0"/>
              <a:t>highly stochastic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53D7B2-7CAA-FCD9-E618-070422FC981F}"/>
              </a:ext>
            </a:extLst>
          </p:cNvPr>
          <p:cNvSpPr txBox="1"/>
          <p:nvPr/>
        </p:nvSpPr>
        <p:spPr>
          <a:xfrm>
            <a:off x="982494" y="4320827"/>
            <a:ext cx="4659549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This randomness introduces: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Aggregate interference from multiple RSUs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Uncertainty in signal strength</a:t>
            </a:r>
            <a:r>
              <a:rPr lang="en-US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Coupling between sensing and communication operations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C4C3E1-8879-FD83-A78D-E11CDF7BBB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719" y="505838"/>
            <a:ext cx="5311301" cy="57782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76DC15-C71B-17FD-E4F8-1B6EC9B1DC81}"/>
              </a:ext>
            </a:extLst>
          </p:cNvPr>
          <p:cNvSpPr txBox="1"/>
          <p:nvPr/>
        </p:nvSpPr>
        <p:spPr>
          <a:xfrm>
            <a:off x="505837" y="244228"/>
            <a:ext cx="31517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latin typeface="Book Antiqua" panose="02040602050305030304" pitchFamily="18" charset="0"/>
              </a:rPr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8D1E9F-A914-4AD0-E3EA-52C7A72238B6}"/>
                  </a:ext>
                </a:extLst>
              </p:cNvPr>
              <p:cNvSpPr txBox="1"/>
              <p:nvPr/>
            </p:nvSpPr>
            <p:spPr>
              <a:xfrm>
                <a:off x="505838" y="1138136"/>
                <a:ext cx="3453319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🔹 Spatial </a:t>
                </a:r>
                <a:r>
                  <a:rPr lang="en-IN" b="1" dirty="0" err="1"/>
                  <a:t>Modeling</a:t>
                </a:r>
                <a:endParaRPr lang="en-IN" b="1" dirty="0"/>
              </a:p>
              <a:p>
                <a:r>
                  <a:rPr lang="en-IN" dirty="0"/>
                  <a:t>Roads are </a:t>
                </a:r>
                <a:r>
                  <a:rPr lang="en-IN" dirty="0" err="1"/>
                  <a:t>modeled</a:t>
                </a:r>
                <a:r>
                  <a:rPr lang="en-IN" dirty="0"/>
                  <a:t> as </a:t>
                </a:r>
                <a:r>
                  <a:rPr lang="en-IN" b="1" dirty="0"/>
                  <a:t>Poisson Line Process (PLP)</a:t>
                </a:r>
                <a:r>
                  <a:rPr lang="en-IN" dirty="0"/>
                  <a:t>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𝑁</m:t>
                      </m:r>
                      <m:r>
                        <a:rPr lang="en-IN"/>
                        <m:t>∼</m:t>
                      </m:r>
                      <m:r>
                        <m:rPr>
                          <m:nor/>
                        </m:rPr>
                        <a:rPr lang="en-IN" i="1"/>
                        <m:t>Poisson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/>
                            <m:t>2</m:t>
                          </m:r>
                          <m:r>
                            <a:rPr lang="ar-AE" i="1"/>
                            <m:t>𝑅</m:t>
                          </m:r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𝜆</m:t>
                              </m:r>
                            </m:e>
                            <m:sub>
                              <m:r>
                                <a:rPr lang="ar-AE" i="1"/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Each road is represented as: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ar-AE"/>
                          </m:ctrlPr>
                        </m:dPr>
                        <m:e>
                          <m:r>
                            <a:rPr lang="ar-AE" i="1"/>
                            <m:t>𝜃</m:t>
                          </m:r>
                        </m:e>
                        <m:e>
                          <m:r>
                            <a:rPr lang="ar-AE" i="1"/>
                            <m:t>𝑝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       </a:t>
                </a:r>
                <a:r>
                  <a:rPr lang="en-US" dirty="0"/>
                  <a:t>Where</a:t>
                </a:r>
                <a:r>
                  <a:rPr lang="hi-IN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hi-IN" i="1"/>
                      <m:t>𝜃</m:t>
                    </m:r>
                    <m:r>
                      <a:rPr lang="hi-IN"/>
                      <m:t>∼</m:t>
                    </m:r>
                    <m:r>
                      <a:rPr lang="hi-IN"/>
                      <m:t>𝒰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0</m:t>
                        </m:r>
                      </m:e>
                      <m:e>
                        <m:r>
                          <a:rPr lang="ar-AE"/>
                          <m:t>2</m:t>
                        </m:r>
                        <m:r>
                          <a:rPr lang="ar-AE" i="1"/>
                          <m:t>𝜋</m:t>
                        </m:r>
                      </m:e>
                    </m:d>
                  </m:oMath>
                </a14:m>
                <a:r>
                  <a:rPr lang="ar-AE" dirty="0"/>
                  <a:t>→ </a:t>
                </a:r>
                <a:r>
                  <a:rPr lang="en-IN" dirty="0"/>
                  <a:t>orientation 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𝑝</m:t>
                    </m:r>
                    <m:r>
                      <a:rPr lang="en-IN"/>
                      <m:t>∼</m:t>
                    </m:r>
                    <m:r>
                      <a:rPr lang="en-IN"/>
                      <m:t>𝒰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−</m:t>
                        </m:r>
                      </m:e>
                      <m:e>
                        <m:r>
                          <a:rPr lang="ar-AE" i="1"/>
                          <m:t>𝑅𝑅</m:t>
                        </m:r>
                      </m:e>
                    </m:d>
                  </m:oMath>
                </a14:m>
                <a:r>
                  <a:rPr lang="ar-AE" dirty="0"/>
                  <a:t>→ </a:t>
                </a:r>
                <a:r>
                  <a:rPr lang="en-IN" dirty="0"/>
                  <a:t>distance from origin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8D1E9F-A914-4AD0-E3EA-52C7A7223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38" y="1138136"/>
                <a:ext cx="3453319" cy="3139321"/>
              </a:xfrm>
              <a:prstGeom prst="rect">
                <a:avLst/>
              </a:prstGeom>
              <a:blipFill>
                <a:blip r:embed="rId3"/>
                <a:stretch>
                  <a:fillRect l="-1590" t="-1359" r="-26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rrow: Right 8">
            <a:extLst>
              <a:ext uri="{FF2B5EF4-FFF2-40B4-BE49-F238E27FC236}">
                <a16:creationId xmlns:a16="http://schemas.microsoft.com/office/drawing/2014/main" id="{808885C0-8102-76F3-DB4F-5623DE17BCAF}"/>
              </a:ext>
            </a:extLst>
          </p:cNvPr>
          <p:cNvSpPr/>
          <p:nvPr/>
        </p:nvSpPr>
        <p:spPr>
          <a:xfrm>
            <a:off x="505838" y="2869660"/>
            <a:ext cx="408562" cy="1361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6C8430-BD08-A256-C630-895499E44DFF}"/>
                  </a:ext>
                </a:extLst>
              </p:cNvPr>
              <p:cNvSpPr txBox="1"/>
              <p:nvPr/>
            </p:nvSpPr>
            <p:spPr>
              <a:xfrm>
                <a:off x="535020" y="4323382"/>
                <a:ext cx="3628417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🔹 RSU Distribution (PPP on Roads)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𝑁</m:t>
                          </m:r>
                        </m:e>
                        <m:sub>
                          <m:r>
                            <a:rPr lang="ar-AE" i="1"/>
                            <m:t>𝑟</m:t>
                          </m:r>
                        </m:sub>
                      </m:sSub>
                      <m:r>
                        <a:rPr lang="ar-AE"/>
                        <m:t>∼</m:t>
                      </m:r>
                      <m:r>
                        <m:rPr>
                          <m:nor/>
                        </m:rPr>
                        <a:rPr lang="en-IN" i="1"/>
                        <m:t>Poisson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𝜆</m:t>
                              </m:r>
                            </m:e>
                            <m:sub>
                              <m:r>
                                <a:rPr lang="ar-AE" i="1"/>
                                <m:t>𝑟</m:t>
                              </m:r>
                            </m:sub>
                          </m:sSub>
                          <m:r>
                            <a:rPr lang="ar-AE" i="1"/>
                            <m:t>𝐿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RSU position on a line: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ar-AE"/>
                          </m:ctrlPr>
                        </m:dPr>
                        <m:e>
                          <m:r>
                            <a:rPr lang="ar-AE" i="1"/>
                            <m:t>𝑥</m:t>
                          </m:r>
                        </m:e>
                        <m:e>
                          <m:r>
                            <a:rPr lang="ar-AE" i="1"/>
                            <m:t>𝑦</m:t>
                          </m:r>
                        </m:e>
                      </m:d>
                      <m:r>
                        <a:rPr lang="ar-AE"/>
                        <m:t>=</m:t>
                      </m:r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𝑥</m:t>
                              </m:r>
                            </m:e>
                            <m:sub>
                              <m:r>
                                <a:rPr lang="ar-AE"/>
                                <m:t>0</m:t>
                              </m:r>
                            </m:sub>
                          </m:sSub>
                        </m:e>
                        <m:e>
                          <m:r>
                            <a:rPr lang="ar-AE"/>
                            <m:t>+</m:t>
                          </m:r>
                          <m:r>
                            <a:rPr lang="ar-AE" i="1"/>
                            <m:t>𝑡</m:t>
                          </m:r>
                          <m:func>
                            <m:funcPr>
                              <m:ctrlPr>
                                <a:rPr lang="ar-AE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/>
                                <m:t>cos</m:t>
                              </m:r>
                            </m:fName>
                            <m:e>
                              <m:r>
                                <a:rPr lang="ar-AE" i="1"/>
                                <m:t>𝜃</m:t>
                              </m:r>
                            </m:e>
                          </m:func>
                          <m:r>
                            <m:rPr>
                              <m:nor/>
                            </m:rPr>
                            <a:rPr lang="ar-AE" i="1"/>
                            <m:t>  </m:t>
                          </m:r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𝑦</m:t>
                              </m:r>
                            </m:e>
                            <m:sub>
                              <m:r>
                                <a:rPr lang="ar-AE"/>
                                <m:t>0</m:t>
                              </m:r>
                            </m:sub>
                          </m:sSub>
                          <m:r>
                            <a:rPr lang="ar-AE"/>
                            <m:t>+</m:t>
                          </m:r>
                          <m:r>
                            <a:rPr lang="ar-AE" i="1"/>
                            <m:t>𝑡</m:t>
                          </m:r>
                          <m:func>
                            <m:funcPr>
                              <m:ctrlPr>
                                <a:rPr lang="ar-AE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/>
                                <m:t>sin</m:t>
                              </m:r>
                            </m:fName>
                            <m:e>
                              <m:r>
                                <a:rPr lang="ar-AE" i="1"/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 </a:t>
                </a:r>
                <a:r>
                  <a:rPr lang="en-US" dirty="0"/>
                  <a:t>where</a:t>
                </a:r>
                <a:r>
                  <a:rPr lang="hi-IN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hi-IN" i="1"/>
                      <m:t>𝑡</m:t>
                    </m:r>
                    <m:r>
                      <a:rPr lang="hi-IN"/>
                      <m:t>∼</m:t>
                    </m:r>
                    <m:r>
                      <a:rPr lang="hi-IN"/>
                      <m:t>𝒰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−</m:t>
                        </m:r>
                      </m:e>
                      <m:e>
                        <m:r>
                          <a:rPr lang="ar-AE" i="1"/>
                          <m:t>𝑅𝑅</m:t>
                        </m:r>
                      </m:e>
                    </m:d>
                  </m:oMath>
                </a14:m>
                <a:r>
                  <a:rPr lang="ar-AE" dirty="0"/>
                  <a:t>→ </a:t>
                </a:r>
                <a:r>
                  <a:rPr lang="en-IN" dirty="0"/>
                  <a:t>position along road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6C8430-BD08-A256-C630-895499E44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20" y="4323382"/>
                <a:ext cx="3628417" cy="2031325"/>
              </a:xfrm>
              <a:prstGeom prst="rect">
                <a:avLst/>
              </a:prstGeom>
              <a:blipFill>
                <a:blip r:embed="rId4"/>
                <a:stretch>
                  <a:fillRect l="-1513" t="-1802" r="-3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F4CA0C-8C08-7112-D4C0-BAA19846BEF5}"/>
                  </a:ext>
                </a:extLst>
              </p:cNvPr>
              <p:cNvSpPr txBox="1"/>
              <p:nvPr/>
            </p:nvSpPr>
            <p:spPr>
              <a:xfrm>
                <a:off x="3920246" y="1138136"/>
                <a:ext cx="273347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🔹 Density Splitting (ISAC)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𝜆</m:t>
                          </m:r>
                        </m:e>
                        <m:sub>
                          <m:r>
                            <a:rPr lang="ar-AE" i="1"/>
                            <m:t>𝑠</m:t>
                          </m:r>
                        </m:sub>
                      </m:sSub>
                      <m:r>
                        <a:rPr lang="ar-AE"/>
                        <m:t>=</m:t>
                      </m:r>
                      <m:r>
                        <a:rPr lang="ar-AE" i="1"/>
                        <m:t>𝛽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𝜆</m:t>
                          </m:r>
                        </m:e>
                        <m:sub>
                          <m:r>
                            <a:rPr lang="ar-AE" i="1"/>
                            <m:t>𝑟</m:t>
                          </m:r>
                        </m:sub>
                      </m:sSub>
                      <m:r>
                        <a:rPr lang="ar-AE"/>
                        <m:t>, </m:t>
                      </m:r>
                    </m:oMath>
                  </m:oMathPara>
                </a14:m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𝜆</m:t>
                          </m:r>
                        </m:e>
                        <m:sub>
                          <m:r>
                            <a:rPr lang="ar-AE" i="1"/>
                            <m:t>𝑐</m:t>
                          </m:r>
                        </m:sub>
                      </m:sSub>
                      <m:r>
                        <a:rPr lang="ar-AE"/>
                        <m:t>=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/>
                            <m:t>1</m:t>
                          </m:r>
                          <m:r>
                            <a:rPr lang="ar-AE"/>
                            <m:t>−</m:t>
                          </m:r>
                          <m:r>
                            <a:rPr lang="ar-AE" i="1"/>
                            <m:t>𝛽</m:t>
                          </m:r>
                        </m:e>
                      </m:d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𝜆</m:t>
                          </m:r>
                        </m:e>
                        <m:sub>
                          <m:r>
                            <a:rPr lang="ar-AE" i="1"/>
                            <m:t>𝑟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F4CA0C-8C08-7112-D4C0-BAA19846B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246" y="1138136"/>
                <a:ext cx="2733473" cy="1200329"/>
              </a:xfrm>
              <a:prstGeom prst="rect">
                <a:avLst/>
              </a:prstGeom>
              <a:blipFill>
                <a:blip r:embed="rId5"/>
                <a:stretch>
                  <a:fillRect l="-1786" t="-3553" r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72F9BD8C-8989-D119-749E-61C1EF6F3446}"/>
              </a:ext>
            </a:extLst>
          </p:cNvPr>
          <p:cNvSpPr/>
          <p:nvPr/>
        </p:nvSpPr>
        <p:spPr>
          <a:xfrm>
            <a:off x="4046706" y="1060315"/>
            <a:ext cx="251946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D6E2F0-4044-1BE0-AECA-E9386843A617}"/>
                  </a:ext>
                </a:extLst>
              </p:cNvPr>
              <p:cNvSpPr txBox="1"/>
              <p:nvPr/>
            </p:nvSpPr>
            <p:spPr>
              <a:xfrm>
                <a:off x="4309353" y="2869660"/>
                <a:ext cx="2169268" cy="2311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Typical User Model</a:t>
                </a:r>
              </a:p>
              <a:p>
                <a:r>
                  <a:rPr lang="en-IN" dirty="0"/>
                  <a:t>User at: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/>
                        </m:ctrlPr>
                      </m:dPr>
                      <m:e>
                        <m:r>
                          <a:rPr lang="ar-AE"/>
                          <m:t>0</m:t>
                        </m:r>
                      </m:e>
                      <m:e>
                        <m:r>
                          <a:rPr lang="ar-AE"/>
                          <m:t>0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Serving RSU is nearest: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𝑑</m:t>
                      </m:r>
                      <m:r>
                        <a:rPr lang="en-IN"/>
                        <m:t>=</m:t>
                      </m:r>
                      <m:limLow>
                        <m:limLowPr>
                          <m:ctrlPr>
                            <a:rPr lang="ar-AE" i="1"/>
                          </m:ctrlPr>
                        </m:limLowPr>
                        <m:e>
                          <m:func>
                            <m:funcPr>
                              <m:ctrlPr>
                                <a:rPr lang="ar-AE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/>
                                <m:t>min</m:t>
                              </m:r>
                            </m:fName>
                            <m:e/>
                          </m:func>
                        </m:e>
                        <m:lim>
                          <m:r>
                            <a:rPr lang="ar-AE" i="1"/>
                            <m:t>𝑖</m:t>
                          </m:r>
                        </m:lim>
                      </m:limLow>
                      <m:rad>
                        <m:radPr>
                          <m:degHide m:val="on"/>
                          <m:ctrlPr>
                            <a:rPr lang="ar-AE" i="1"/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ar-AE" i="1"/>
                              </m:ctrlPr>
                            </m:sSubSupPr>
                            <m:e>
                              <m:r>
                                <a:rPr lang="ar-AE" i="1"/>
                                <m:t>𝑥</m:t>
                              </m:r>
                            </m:e>
                            <m:sub>
                              <m:r>
                                <a:rPr lang="ar-AE" i="1"/>
                                <m:t>𝑖</m:t>
                              </m:r>
                            </m:sub>
                            <m:sup>
                              <m:r>
                                <a:rPr lang="ar-AE"/>
                                <m:t>2</m:t>
                              </m:r>
                            </m:sup>
                          </m:sSubSup>
                          <m:r>
                            <a:rPr lang="ar-AE"/>
                            <m:t>+</m:t>
                          </m:r>
                          <m:sSubSup>
                            <m:sSubSupPr>
                              <m:ctrlPr>
                                <a:rPr lang="ar-AE" i="1"/>
                              </m:ctrlPr>
                            </m:sSubSupPr>
                            <m:e>
                              <m:r>
                                <a:rPr lang="ar-AE" i="1"/>
                                <m:t>𝑦</m:t>
                              </m:r>
                            </m:e>
                            <m:sub>
                              <m:r>
                                <a:rPr lang="ar-AE" i="1"/>
                                <m:t>𝑖</m:t>
                              </m:r>
                            </m:sub>
                            <m:sup>
                              <m:r>
                                <a:rPr lang="ar-AE"/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D6E2F0-4044-1BE0-AECA-E9386843A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353" y="2869660"/>
                <a:ext cx="2169268" cy="2311658"/>
              </a:xfrm>
              <a:prstGeom prst="rect">
                <a:avLst/>
              </a:prstGeom>
              <a:blipFill>
                <a:blip r:embed="rId6"/>
                <a:stretch>
                  <a:fillRect l="-2528" t="-15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F80572C5-81ED-4B8E-18BD-D2978E7844A5}"/>
              </a:ext>
            </a:extLst>
          </p:cNvPr>
          <p:cNvSpPr/>
          <p:nvPr/>
        </p:nvSpPr>
        <p:spPr>
          <a:xfrm>
            <a:off x="4309353" y="2869660"/>
            <a:ext cx="2169268" cy="2311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DD156C-F8F9-AF28-4F6A-5CF774A09126}"/>
              </a:ext>
            </a:extLst>
          </p:cNvPr>
          <p:cNvSpPr/>
          <p:nvPr/>
        </p:nvSpPr>
        <p:spPr>
          <a:xfrm>
            <a:off x="505838" y="4277457"/>
            <a:ext cx="3628417" cy="19820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590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ADFF-9D58-E9FE-A7F2-2210D6C4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57" y="257590"/>
            <a:ext cx="5076217" cy="792466"/>
          </a:xfrm>
        </p:spPr>
        <p:txBody>
          <a:bodyPr>
            <a:normAutofit/>
          </a:bodyPr>
          <a:lstStyle/>
          <a:p>
            <a:r>
              <a:rPr lang="en-IN" sz="3200" b="1" u="sng" dirty="0">
                <a:latin typeface="Book Antiqua" panose="02040602050305030304" pitchFamily="18" charset="0"/>
              </a:rPr>
              <a:t>SIGNAL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AD93AB-29F7-2BCC-B541-522E1F3C60DE}"/>
                  </a:ext>
                </a:extLst>
              </p:cNvPr>
              <p:cNvSpPr txBox="1"/>
              <p:nvPr/>
            </p:nvSpPr>
            <p:spPr>
              <a:xfrm>
                <a:off x="604736" y="1050056"/>
                <a:ext cx="6068438" cy="6659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🔷 Signal Model (Sensing &amp; Communication)</a:t>
                </a:r>
              </a:p>
              <a:p>
                <a:endParaRPr lang="en-US" b="1" dirty="0"/>
              </a:p>
              <a:p>
                <a:r>
                  <a:rPr lang="en-IN" b="1" dirty="0"/>
                  <a:t>🔹 Sensing Signal (Radar Mode)</a:t>
                </a:r>
              </a:p>
              <a:p>
                <a:endParaRPr lang="en-IN" b="1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𝑃</m:t>
                          </m:r>
                        </m:e>
                        <m:sub>
                          <m:r>
                            <a:rPr lang="ar-AE" i="1"/>
                            <m:t>𝑒</m:t>
                          </m:r>
                        </m:sub>
                      </m:sSub>
                      <m:r>
                        <a:rPr lang="ar-AE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𝑃</m:t>
                              </m:r>
                            </m:e>
                            <m:sub>
                              <m:r>
                                <a:rPr lang="ar-AE" i="1"/>
                                <m:t>𝑡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ar-AE" i="1"/>
                            <m:t> </m:t>
                          </m:r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𝐺</m:t>
                              </m:r>
                            </m:e>
                            <m:sub>
                              <m:r>
                                <a:rPr lang="ar-AE" i="1"/>
                                <m:t>𝑇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ar-AE" i="1"/>
                            <m:t> </m:t>
                          </m:r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𝐺</m:t>
                              </m:r>
                            </m:e>
                            <m:sub>
                              <m:r>
                                <a:rPr lang="ar-AE" i="1"/>
                                <m:t>𝑅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ar-AE" i="1"/>
                            <m:t> </m:t>
                          </m:r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r>
                                <a:rPr lang="ar-AE" i="1"/>
                                <m:t>𝜆</m:t>
                              </m:r>
                            </m:e>
                            <m:sup>
                              <m:r>
                                <a:rPr lang="ar-AE"/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ar-AE" i="1"/>
                            <m:t> </m:t>
                          </m:r>
                          <m:r>
                            <a:rPr lang="ar-AE" i="1"/>
                            <m:t>𝜎</m:t>
                          </m:r>
                        </m:num>
                        <m:den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ar-AE" i="1"/>
                                  </m:ctrlPr>
                                </m:dPr>
                                <m:e>
                                  <m:r>
                                    <a:rPr lang="ar-AE"/>
                                    <m:t>4</m:t>
                                  </m:r>
                                  <m:r>
                                    <a:rPr lang="ar-AE" i="1"/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/>
                                <m:t>3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ar-AE" i="1"/>
                            <m:t> </m:t>
                          </m:r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r>
                                <a:rPr lang="ar-AE" i="1"/>
                                <m:t>𝑑</m:t>
                              </m:r>
                            </m:e>
                            <m:sup>
                              <m:r>
                                <a:rPr lang="ar-AE"/>
                                <m:t>2</m:t>
                              </m:r>
                              <m:r>
                                <a:rPr lang="ar-AE" i="1"/>
                                <m:t>𝛼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b="0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  </a:t>
                </a:r>
              </a:p>
              <a:p>
                <a:pPr lvl="1">
                  <a:lnSpc>
                    <a:spcPct val="150000"/>
                  </a:lnSpc>
                </a:pPr>
                <a:endParaRPr lang="en-IN" dirty="0"/>
              </a:p>
              <a:p>
                <a:pPr lvl="1">
                  <a:lnSpc>
                    <a:spcPct val="150000"/>
                  </a:lnSpc>
                </a:pPr>
                <a:endParaRPr lang="en-IN" dirty="0"/>
              </a:p>
              <a:p>
                <a:pPr lvl="1">
                  <a:lnSpc>
                    <a:spcPct val="150000"/>
                  </a:lnSpc>
                </a:pPr>
                <a:endParaRPr lang="en-IN" dirty="0"/>
              </a:p>
              <a:p>
                <a:pPr lvl="1">
                  <a:lnSpc>
                    <a:spcPct val="150000"/>
                  </a:lnSpc>
                </a:pPr>
                <a:r>
                  <a:rPr lang="en-IN" dirty="0"/>
                  <a:t>Signal travels </a:t>
                </a:r>
                <a:r>
                  <a:rPr lang="en-IN" b="1" dirty="0"/>
                  <a:t>forward + backward</a:t>
                </a:r>
                <a:br>
                  <a:rPr lang="en-IN" dirty="0"/>
                </a:br>
                <a:r>
                  <a:rPr lang="en-IN" dirty="0"/>
                  <a:t>      path loss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i="1"/>
                          <m:t>𝑑</m:t>
                        </m:r>
                      </m:e>
                      <m:sup>
                        <m:r>
                          <a:rPr lang="ar-AE"/>
                          <m:t>2</m:t>
                        </m:r>
                        <m:r>
                          <a:rPr lang="ar-AE" i="1"/>
                          <m:t>𝛼</m:t>
                        </m:r>
                      </m:sup>
                    </m:sSup>
                  </m:oMath>
                </a14:m>
                <a:endParaRPr lang="ar-AE" dirty="0"/>
              </a:p>
              <a:p>
                <a:pPr lvl="1">
                  <a:lnSpc>
                    <a:spcPct val="150000"/>
                  </a:lnSpc>
                </a:pPr>
                <a:r>
                  <a:rPr lang="ar-AE" dirty="0"/>
                  <a:t>✔ </a:t>
                </a:r>
                <a:r>
                  <a:rPr lang="en-IN" dirty="0"/>
                  <a:t>distance ↑ → signal </a:t>
                </a:r>
                <a:r>
                  <a:rPr lang="en-US" dirty="0"/>
                  <a:t>very fast</a:t>
                </a:r>
                <a:r>
                  <a:rPr lang="hi-IN" dirty="0"/>
                  <a:t> ↓</a:t>
                </a:r>
              </a:p>
              <a:p>
                <a:endParaRPr lang="ar-AE" b="0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AD93AB-29F7-2BCC-B541-522E1F3C6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36" y="1050056"/>
                <a:ext cx="6068438" cy="6659259"/>
              </a:xfrm>
              <a:prstGeom prst="rect">
                <a:avLst/>
              </a:prstGeom>
              <a:blipFill>
                <a:blip r:embed="rId2"/>
                <a:stretch>
                  <a:fillRect l="-803" t="-5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6D78D0-F88B-B034-FCCB-51FD92677333}"/>
              </a:ext>
            </a:extLst>
          </p:cNvPr>
          <p:cNvCxnSpPr>
            <a:cxnSpLocks/>
          </p:cNvCxnSpPr>
          <p:nvPr/>
        </p:nvCxnSpPr>
        <p:spPr>
          <a:xfrm>
            <a:off x="838200" y="488328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99D29EE-E481-C309-BD69-B0823769FDE2}"/>
              </a:ext>
            </a:extLst>
          </p:cNvPr>
          <p:cNvSpPr/>
          <p:nvPr/>
        </p:nvSpPr>
        <p:spPr>
          <a:xfrm>
            <a:off x="2525138" y="2139780"/>
            <a:ext cx="2227634" cy="7924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AFDE9D1-48DA-65F8-2130-D38F3EC57C72}"/>
                  </a:ext>
                </a:extLst>
              </p:cNvPr>
              <p:cNvSpPr txBox="1"/>
              <p:nvPr/>
            </p:nvSpPr>
            <p:spPr>
              <a:xfrm>
                <a:off x="5894962" y="1075735"/>
                <a:ext cx="5076217" cy="1049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/>
                  <a:t>🔹</a:t>
                </a:r>
                <a:r>
                  <a:rPr lang="en-IN" b="1" dirty="0"/>
                  <a:t> Communication Signal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𝑆</m:t>
                      </m:r>
                      <m:r>
                        <a:rPr lang="en-IN"/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𝑃</m:t>
                          </m:r>
                        </m:e>
                        <m:sub>
                          <m:r>
                            <a:rPr lang="ar-AE" i="1"/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ar-AE" i="1"/>
                        <m:t> 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𝐺</m:t>
                          </m:r>
                        </m:e>
                        <m:sub>
                          <m:r>
                            <a:rPr lang="ar-AE" i="1"/>
                            <m:t>𝑇</m:t>
                          </m:r>
                        </m:sub>
                      </m:sSub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/>
                        <m:t>h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sSup>
                        <m:sSupPr>
                          <m:ctrlPr>
                            <a:rPr lang="ar-AE" i="1"/>
                          </m:ctrlPr>
                        </m:sSupPr>
                        <m:e>
                          <m:r>
                            <a:rPr lang="ar-AE" i="1"/>
                            <m:t>𝑑</m:t>
                          </m:r>
                        </m:e>
                        <m:sup>
                          <m:r>
                            <a:rPr lang="ar-AE"/>
                            <m:t>−</m:t>
                          </m:r>
                          <m:r>
                            <a:rPr lang="ar-AE" i="1"/>
                            <m:t>𝛼</m:t>
                          </m:r>
                        </m:sup>
                      </m:sSup>
                    </m:oMath>
                  </m:oMathPara>
                </a14:m>
                <a:endParaRPr lang="ar-AE" b="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AFDE9D1-48DA-65F8-2130-D38F3EC57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4962" y="1075735"/>
                <a:ext cx="5076217" cy="1049454"/>
              </a:xfrm>
              <a:prstGeom prst="rect">
                <a:avLst/>
              </a:prstGeom>
              <a:blipFill>
                <a:blip r:embed="rId3"/>
                <a:stretch>
                  <a:fillRect l="-1801" t="-40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324F3BE-54D3-E2BD-2D52-744DA7745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705080"/>
              </p:ext>
            </p:extLst>
          </p:nvPr>
        </p:nvGraphicFramePr>
        <p:xfrm>
          <a:off x="6195707" y="2139780"/>
          <a:ext cx="4474725" cy="1371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91575">
                  <a:extLst>
                    <a:ext uri="{9D8B030D-6E8A-4147-A177-3AD203B41FA5}">
                      <a16:colId xmlns:a16="http://schemas.microsoft.com/office/drawing/2014/main" val="3394112483"/>
                    </a:ext>
                  </a:extLst>
                </a:gridCol>
                <a:gridCol w="1491575">
                  <a:extLst>
                    <a:ext uri="{9D8B030D-6E8A-4147-A177-3AD203B41FA5}">
                      <a16:colId xmlns:a16="http://schemas.microsoft.com/office/drawing/2014/main" val="643743962"/>
                    </a:ext>
                  </a:extLst>
                </a:gridCol>
                <a:gridCol w="1491575">
                  <a:extLst>
                    <a:ext uri="{9D8B030D-6E8A-4147-A177-3AD203B41FA5}">
                      <a16:colId xmlns:a16="http://schemas.microsoft.com/office/drawing/2014/main" val="741203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429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 h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Gamma / Rayleigh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channel fading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928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 G_T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antenna gain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22478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774C29A-8665-1810-368A-12E335F4F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363984"/>
              </p:ext>
            </p:extLst>
          </p:nvPr>
        </p:nvGraphicFramePr>
        <p:xfrm>
          <a:off x="1011269" y="3198173"/>
          <a:ext cx="4474725" cy="1920240"/>
        </p:xfrm>
        <a:graphic>
          <a:graphicData uri="http://schemas.openxmlformats.org/drawingml/2006/table">
            <a:tbl>
              <a:tblPr/>
              <a:tblGrid>
                <a:gridCol w="1491575">
                  <a:extLst>
                    <a:ext uri="{9D8B030D-6E8A-4147-A177-3AD203B41FA5}">
                      <a16:colId xmlns:a16="http://schemas.microsoft.com/office/drawing/2014/main" val="1375844126"/>
                    </a:ext>
                  </a:extLst>
                </a:gridCol>
                <a:gridCol w="1491575">
                  <a:extLst>
                    <a:ext uri="{9D8B030D-6E8A-4147-A177-3AD203B41FA5}">
                      <a16:colId xmlns:a16="http://schemas.microsoft.com/office/drawing/2014/main" val="1746998516"/>
                    </a:ext>
                  </a:extLst>
                </a:gridCol>
                <a:gridCol w="1491575">
                  <a:extLst>
                    <a:ext uri="{9D8B030D-6E8A-4147-A177-3AD203B41FA5}">
                      <a16:colId xmlns:a16="http://schemas.microsoft.com/office/drawing/2014/main" val="4099835179"/>
                    </a:ext>
                  </a:extLst>
                </a:gridCol>
              </a:tblGrid>
              <a:tr h="207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922897"/>
                  </a:ext>
                </a:extLst>
              </a:tr>
              <a:tr h="519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 \sigma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Exponential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target reflectivity (RCS)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260719"/>
                  </a:ext>
                </a:extLst>
              </a:tr>
              <a:tr h="363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 G_T, G_R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(antenna)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directional gain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442846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8A334DB5-2A62-77FA-B057-4134479A6763}"/>
              </a:ext>
            </a:extLst>
          </p:cNvPr>
          <p:cNvSpPr txBox="1"/>
          <p:nvPr/>
        </p:nvSpPr>
        <p:spPr>
          <a:xfrm>
            <a:off x="6195707" y="3900791"/>
            <a:ext cx="46895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Sensing experiences double path loss due to round-trip propagation, while communication undergoes single path loss. Hence, sensing is more sensitive to distance variations.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0300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836AE-39B0-BCBD-D812-9C218A0C5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089" y="0"/>
            <a:ext cx="7323307" cy="1325563"/>
          </a:xfrm>
        </p:spPr>
        <p:txBody>
          <a:bodyPr>
            <a:normAutofit/>
          </a:bodyPr>
          <a:lstStyle/>
          <a:p>
            <a:r>
              <a:rPr lang="en-IN" sz="4000" b="1" u="sng" dirty="0">
                <a:latin typeface="Book Antiqua" panose="02040602050305030304" pitchFamily="18" charset="0"/>
              </a:rPr>
              <a:t>Interference &amp; SIR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0B266C-040D-94CA-5938-BC71D2A3779D}"/>
                  </a:ext>
                </a:extLst>
              </p:cNvPr>
              <p:cNvSpPr txBox="1"/>
              <p:nvPr/>
            </p:nvSpPr>
            <p:spPr>
              <a:xfrm>
                <a:off x="680936" y="1177047"/>
                <a:ext cx="541506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Total Interference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𝐼</m:t>
                      </m:r>
                      <m:r>
                        <a:rPr lang="en-IN"/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𝐼</m:t>
                          </m:r>
                        </m:e>
                        <m:sub>
                          <m:r>
                            <a:rPr lang="ar-AE" i="1"/>
                            <m:t>𝑠</m:t>
                          </m:r>
                        </m:sub>
                      </m:sSub>
                      <m:r>
                        <a:rPr lang="ar-AE"/>
                        <m:t>+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𝐼</m:t>
                          </m:r>
                        </m:e>
                        <m:sub>
                          <m:r>
                            <a:rPr lang="ar-AE" i="1"/>
                            <m:t>𝑐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0B266C-040D-94CA-5938-BC71D2A37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36" y="1177047"/>
                <a:ext cx="5415064" cy="923330"/>
              </a:xfrm>
              <a:prstGeom prst="rect">
                <a:avLst/>
              </a:prstGeom>
              <a:blipFill>
                <a:blip r:embed="rId2"/>
                <a:stretch>
                  <a:fillRect l="-1014" t="-32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3FAC14-ACD1-4527-1CD0-F6C136D1A63A}"/>
                  </a:ext>
                </a:extLst>
              </p:cNvPr>
              <p:cNvSpPr txBox="1"/>
              <p:nvPr/>
            </p:nvSpPr>
            <p:spPr>
              <a:xfrm>
                <a:off x="680936" y="2077858"/>
                <a:ext cx="5165387" cy="1318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Sensing Interference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𝐼</m:t>
                          </m:r>
                        </m:e>
                        <m:sub>
                          <m:r>
                            <a:rPr lang="ar-AE" i="1"/>
                            <m:t>𝑠</m:t>
                          </m:r>
                        </m:sub>
                      </m:sSub>
                      <m:r>
                        <a:rPr lang="ar-AE"/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/>
                          </m:ctrlPr>
                        </m:naryPr>
                        <m:sub>
                          <m:r>
                            <a:rPr lang="ar-AE" i="1"/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𝐴</m:t>
                              </m:r>
                            </m:e>
                            <m:sub>
                              <m:r>
                                <a:rPr lang="ar-AE" i="1"/>
                                <m:t>𝑠</m:t>
                              </m:r>
                            </m:sub>
                          </m:sSub>
                        </m:e>
                      </m:nary>
                      <m:r>
                        <m:rPr>
                          <m:nor/>
                        </m:rPr>
                        <a:rPr lang="ar-AE" i="1"/>
                        <m:t> 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𝑃</m:t>
                          </m:r>
                        </m:e>
                        <m:sub>
                          <m:r>
                            <a:rPr lang="ar-AE" i="1"/>
                            <m:t>𝑑</m:t>
                          </m:r>
                        </m:sub>
                      </m:sSub>
                      <m:r>
                        <m:rPr>
                          <m:nor/>
                        </m:rPr>
                        <a:rPr lang="ar-AE" i="1"/>
                        <m:t> 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𝜎</m:t>
                          </m:r>
                        </m:e>
                        <m:sub>
                          <m:r>
                            <a:rPr lang="ar-AE" i="1"/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ar-AE" i="1"/>
                        <m:t> </m:t>
                      </m:r>
                      <m:sSubSup>
                        <m:sSubSupPr>
                          <m:ctrlPr>
                            <a:rPr lang="ar-AE" i="1"/>
                          </m:ctrlPr>
                        </m:sSubSupPr>
                        <m:e>
                          <m:r>
                            <a:rPr lang="ar-AE" i="1"/>
                            <m:t>𝑙</m:t>
                          </m:r>
                        </m:e>
                        <m:sub>
                          <m:r>
                            <a:rPr lang="ar-AE" i="1"/>
                            <m:t>𝑖</m:t>
                          </m:r>
                        </m:sub>
                        <m:sup>
                          <m:r>
                            <a:rPr lang="ar-AE"/>
                            <m:t>−</m:t>
                          </m:r>
                          <m:r>
                            <a:rPr lang="ar-AE" i="1"/>
                            <m:t>𝛼</m:t>
                          </m:r>
                        </m:sup>
                      </m:sSubSup>
                    </m:oMath>
                  </m:oMathPara>
                </a14:m>
                <a:endParaRPr lang="ar-AE" b="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3FAC14-ACD1-4527-1CD0-F6C136D1A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36" y="2077858"/>
                <a:ext cx="5165387" cy="1318566"/>
              </a:xfrm>
              <a:prstGeom prst="rect">
                <a:avLst/>
              </a:prstGeom>
              <a:blipFill>
                <a:blip r:embed="rId3"/>
                <a:stretch>
                  <a:fillRect l="-1063" t="-2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9F92EF-E005-F077-EFBB-0A9D99372D20}"/>
                  </a:ext>
                </a:extLst>
              </p:cNvPr>
              <p:cNvSpPr txBox="1"/>
              <p:nvPr/>
            </p:nvSpPr>
            <p:spPr>
              <a:xfrm>
                <a:off x="680936" y="3396424"/>
                <a:ext cx="39591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 Random Variables: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𝜎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  <m:r>
                      <a:rPr lang="ar-AE"/>
                      <m:t>∼</m:t>
                    </m:r>
                    <m:r>
                      <m:rPr>
                        <m:nor/>
                      </m:rPr>
                      <a:rPr lang="en-IN" i="1"/>
                      <m:t>Exp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1</m:t>
                        </m:r>
                      </m:e>
                    </m:d>
                  </m:oMath>
                </a14:m>
                <a:r>
                  <a:rPr lang="ar-AE" dirty="0"/>
                  <a:t>→ </a:t>
                </a:r>
                <a:r>
                  <a:rPr lang="en-IN" dirty="0"/>
                  <a:t>target reflection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𝑙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→ </a:t>
                </a:r>
                <a:r>
                  <a:rPr lang="en-IN" dirty="0"/>
                  <a:t>distance (random due to PPP)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9F92EF-E005-F077-EFBB-0A9D99372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36" y="3396424"/>
                <a:ext cx="3959157" cy="1200329"/>
              </a:xfrm>
              <a:prstGeom prst="rect">
                <a:avLst/>
              </a:prstGeom>
              <a:blipFill>
                <a:blip r:embed="rId4"/>
                <a:stretch>
                  <a:fillRect t="-2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61A80B5-03AE-9675-5D66-B9E224BD2890}"/>
              </a:ext>
            </a:extLst>
          </p:cNvPr>
          <p:cNvSpPr txBox="1"/>
          <p:nvPr/>
        </p:nvSpPr>
        <p:spPr>
          <a:xfrm>
            <a:off x="680936" y="4513634"/>
            <a:ext cx="5612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System performance is interference-limited, not noise-limited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F46CDD-D021-08AC-6F5B-2663C9CE386C}"/>
              </a:ext>
            </a:extLst>
          </p:cNvPr>
          <p:cNvSpPr txBox="1"/>
          <p:nvPr/>
        </p:nvSpPr>
        <p:spPr>
          <a:xfrm>
            <a:off x="719846" y="5288448"/>
            <a:ext cx="5337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Higher interference → lower SIR → lower success probability</a:t>
            </a:r>
            <a:endParaRPr lang="en-IN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DCA537-C46F-63A7-0881-13B4266EB717}"/>
                  </a:ext>
                </a:extLst>
              </p:cNvPr>
              <p:cNvSpPr txBox="1"/>
              <p:nvPr/>
            </p:nvSpPr>
            <p:spPr>
              <a:xfrm>
                <a:off x="6096000" y="1053687"/>
                <a:ext cx="3563566" cy="1318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Communication Interference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𝐼</m:t>
                          </m:r>
                        </m:e>
                        <m:sub>
                          <m:r>
                            <a:rPr lang="ar-AE" i="1"/>
                            <m:t>𝑐</m:t>
                          </m:r>
                        </m:sub>
                      </m:sSub>
                      <m:r>
                        <a:rPr lang="ar-AE"/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/>
                          </m:ctrlPr>
                        </m:naryPr>
                        <m:sub>
                          <m:r>
                            <a:rPr lang="ar-AE" i="1"/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𝑃</m:t>
                              </m:r>
                            </m:e>
                            <m:sub>
                              <m:r>
                                <a:rPr lang="ar-AE" i="1"/>
                                <m:t>𝑡</m:t>
                              </m:r>
                            </m:sub>
                          </m:sSub>
                        </m:e>
                      </m:nary>
                      <m:r>
                        <m:rPr>
                          <m:nor/>
                        </m:rPr>
                        <a:rPr lang="ar-AE" i="1"/>
                        <m:t> 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𝐺</m:t>
                          </m:r>
                        </m:e>
                        <m:sub>
                          <m:r>
                            <a:rPr lang="ar-AE" i="1"/>
                            <m:t>𝑇</m:t>
                          </m:r>
                        </m:sub>
                      </m:sSub>
                      <m:r>
                        <m:rPr>
                          <m:nor/>
                        </m:rPr>
                        <a:rPr lang="ar-AE" i="1"/>
                        <m:t> 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𝐺</m:t>
                          </m:r>
                        </m:e>
                        <m:sub>
                          <m:r>
                            <a:rPr lang="ar-AE" i="1"/>
                            <m:t>𝑅</m:t>
                          </m:r>
                        </m:sub>
                      </m:sSub>
                      <m:r>
                        <m:rPr>
                          <m:nor/>
                        </m:rPr>
                        <a:rPr lang="ar-AE" i="1"/>
                        <m:t> 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h</m:t>
                          </m:r>
                        </m:e>
                        <m:sub>
                          <m:r>
                            <a:rPr lang="ar-AE" i="1"/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ar-AE" i="1"/>
                        <m:t> </m:t>
                      </m:r>
                      <m:sSubSup>
                        <m:sSubSupPr>
                          <m:ctrlPr>
                            <a:rPr lang="ar-AE" i="1"/>
                          </m:ctrlPr>
                        </m:sSubSupPr>
                        <m:e>
                          <m:r>
                            <a:rPr lang="ar-AE" i="1"/>
                            <m:t>𝑙</m:t>
                          </m:r>
                        </m:e>
                        <m:sub>
                          <m:r>
                            <a:rPr lang="ar-AE" i="1"/>
                            <m:t>𝑖</m:t>
                          </m:r>
                        </m:sub>
                        <m:sup>
                          <m:r>
                            <a:rPr lang="ar-AE"/>
                            <m:t>−</m:t>
                          </m:r>
                          <m:r>
                            <a:rPr lang="ar-AE" i="1"/>
                            <m:t>𝛼</m:t>
                          </m:r>
                        </m:sup>
                      </m:sSubSup>
                    </m:oMath>
                  </m:oMathPara>
                </a14:m>
                <a:endParaRPr lang="ar-AE" b="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DCA537-C46F-63A7-0881-13B4266EB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053687"/>
                <a:ext cx="3563566" cy="1318566"/>
              </a:xfrm>
              <a:prstGeom prst="rect">
                <a:avLst/>
              </a:prstGeom>
              <a:blipFill>
                <a:blip r:embed="rId5"/>
                <a:stretch>
                  <a:fillRect l="-1368" t="-2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ECB44A-40EE-F071-2C87-5D6697B51231}"/>
                  </a:ext>
                </a:extLst>
              </p:cNvPr>
              <p:cNvSpPr txBox="1"/>
              <p:nvPr/>
            </p:nvSpPr>
            <p:spPr>
              <a:xfrm>
                <a:off x="6057089" y="2228601"/>
                <a:ext cx="3563566" cy="1548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 Random Variables: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h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  <m:r>
                      <a:rPr lang="ar-AE"/>
                      <m:t>∼</m:t>
                    </m:r>
                    <m:r>
                      <m:rPr>
                        <m:nor/>
                      </m:rPr>
                      <a:rPr lang="en-IN" i="1"/>
                      <m:t>Gamma</m:t>
                    </m:r>
                  </m:oMath>
                </a14:m>
                <a:r>
                  <a:rPr lang="en-IN" dirty="0"/>
                  <a:t>→ channel fading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𝐺</m:t>
                        </m:r>
                      </m:e>
                      <m:sub>
                        <m:r>
                          <a:rPr lang="ar-AE" i="1"/>
                          <m:t>𝑇</m:t>
                        </m:r>
                      </m:sub>
                    </m:sSub>
                    <m:r>
                      <a:rPr lang="ar-AE"/>
                      <m:t>,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𝐺</m:t>
                        </m:r>
                      </m:e>
                      <m:sub>
                        <m:r>
                          <a:rPr lang="ar-AE" i="1"/>
                          <m:t>𝑅</m:t>
                        </m:r>
                      </m:sub>
                    </m:sSub>
                  </m:oMath>
                </a14:m>
                <a:r>
                  <a:rPr lang="ar-AE" dirty="0"/>
                  <a:t>→ </a:t>
                </a:r>
                <a:r>
                  <a:rPr lang="en-IN" dirty="0"/>
                  <a:t>antenna gain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𝑙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→ </a:t>
                </a:r>
                <a:r>
                  <a:rPr lang="en-IN" dirty="0"/>
                  <a:t>distance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ECB44A-40EE-F071-2C87-5D6697B51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089" y="2228601"/>
                <a:ext cx="3563566" cy="1548757"/>
              </a:xfrm>
              <a:prstGeom prst="rect">
                <a:avLst/>
              </a:prstGeom>
              <a:blipFill>
                <a:blip r:embed="rId6"/>
                <a:stretch>
                  <a:fillRect l="-1712" t="-23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0F6FDC1-8665-5D2C-480F-D6FE5525D72A}"/>
                  </a:ext>
                </a:extLst>
              </p:cNvPr>
              <p:cNvSpPr txBox="1"/>
              <p:nvPr/>
            </p:nvSpPr>
            <p:spPr>
              <a:xfrm>
                <a:off x="6096000" y="3671288"/>
                <a:ext cx="3563566" cy="2332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SIR Definition</a:t>
                </a:r>
              </a:p>
              <a:p>
                <a:r>
                  <a:rPr lang="en-IN" b="1" dirty="0"/>
                  <a:t>🔸 Sensing: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𝛾</m:t>
                          </m:r>
                        </m:e>
                        <m:sub>
                          <m:r>
                            <a:rPr lang="ar-AE" i="1"/>
                            <m:t>𝑠</m:t>
                          </m:r>
                        </m:sub>
                      </m:sSub>
                      <m:r>
                        <a:rPr lang="ar-AE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𝑃</m:t>
                              </m:r>
                            </m:e>
                            <m:sub>
                              <m:r>
                                <a:rPr lang="ar-AE" i="1"/>
                                <m:t>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𝐼</m:t>
                              </m:r>
                            </m:e>
                            <m:sub>
                              <m:r>
                                <a:rPr lang="ar-AE" i="1"/>
                                <m:t>𝑠</m:t>
                              </m:r>
                            </m:sub>
                          </m:sSub>
                          <m:r>
                            <a:rPr lang="ar-AE"/>
                            <m:t>+</m:t>
                          </m:r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𝐼</m:t>
                              </m:r>
                            </m:e>
                            <m:sub>
                              <m:r>
                                <a:rPr lang="ar-AE" i="1"/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en-IN" b="1" dirty="0"/>
                  <a:t>🔸 Communication: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𝛾</m:t>
                          </m:r>
                        </m:e>
                        <m:sub>
                          <m:r>
                            <a:rPr lang="ar-AE" i="1"/>
                            <m:t>𝑐</m:t>
                          </m:r>
                        </m:sub>
                      </m:sSub>
                      <m:r>
                        <a:rPr lang="ar-AE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r>
                            <a:rPr lang="ar-AE" i="1"/>
                            <m:t>𝑆</m:t>
                          </m:r>
                        </m:num>
                        <m:den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𝐼</m:t>
                              </m:r>
                            </m:e>
                            <m:sub>
                              <m:r>
                                <a:rPr lang="ar-AE" i="1"/>
                                <m:t>𝑠</m:t>
                              </m:r>
                            </m:sub>
                          </m:sSub>
                          <m:r>
                            <a:rPr lang="ar-AE"/>
                            <m:t>+</m:t>
                          </m:r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𝐼</m:t>
                              </m:r>
                            </m:e>
                            <m:sub>
                              <m:r>
                                <a:rPr lang="ar-AE" i="1"/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0F6FDC1-8665-5D2C-480F-D6FE5525D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671288"/>
                <a:ext cx="3563566" cy="2332883"/>
              </a:xfrm>
              <a:prstGeom prst="rect">
                <a:avLst/>
              </a:prstGeom>
              <a:blipFill>
                <a:blip r:embed="rId7"/>
                <a:stretch>
                  <a:fillRect l="-1368" t="-13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4BFD8C0-347E-D3E4-3245-324931D721D7}"/>
              </a:ext>
            </a:extLst>
          </p:cNvPr>
          <p:cNvSpPr txBox="1"/>
          <p:nvPr/>
        </p:nvSpPr>
        <p:spPr>
          <a:xfrm>
            <a:off x="5914417" y="5787957"/>
            <a:ext cx="53372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sensing and communication share the same interference pool, which creates coupling between them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7887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5072-037E-22C3-4BB8-4F5BAA4CD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72" y="0"/>
            <a:ext cx="4998396" cy="1325563"/>
          </a:xfrm>
        </p:spPr>
        <p:txBody>
          <a:bodyPr>
            <a:normAutofit/>
          </a:bodyPr>
          <a:lstStyle/>
          <a:p>
            <a:r>
              <a:rPr lang="en-IN" sz="4000" u="sng" dirty="0">
                <a:latin typeface="Book Antiqua" panose="02040602050305030304" pitchFamily="18" charset="0"/>
              </a:rPr>
              <a:t>Performance Metrics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1DAA62-7CE8-98F7-8451-5D315A27AD62}"/>
                  </a:ext>
                </a:extLst>
              </p:cNvPr>
              <p:cNvSpPr txBox="1"/>
              <p:nvPr/>
            </p:nvSpPr>
            <p:spPr>
              <a:xfrm>
                <a:off x="554477" y="1400783"/>
                <a:ext cx="47276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🔹 1. PSP — Probability of Successful Sensing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𝑃</m:t>
                          </m:r>
                        </m:e>
                        <m:sub>
                          <m:r>
                            <a:rPr lang="ar-AE" i="1"/>
                            <m:t>𝑠</m:t>
                          </m:r>
                        </m:sub>
                      </m:sSub>
                      <m:r>
                        <a:rPr lang="ar-AE"/>
                        <m:t>=</m:t>
                      </m:r>
                      <m:r>
                        <a:rPr lang="ar-AE" i="1"/>
                        <m:t>𝑃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𝛾</m:t>
                              </m:r>
                            </m:e>
                            <m:sub>
                              <m:r>
                                <a:rPr lang="ar-AE" i="1"/>
                                <m:t>𝑠</m:t>
                              </m:r>
                            </m:sub>
                          </m:sSub>
                          <m:r>
                            <a:rPr lang="ar-AE"/>
                            <m:t>&gt;</m:t>
                          </m:r>
                          <m:r>
                            <a:rPr lang="ar-AE" i="1"/>
                            <m:t>𝜏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1DAA62-7CE8-98F7-8451-5D315A27A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77" y="1400783"/>
                <a:ext cx="4727642" cy="923330"/>
              </a:xfrm>
              <a:prstGeom prst="rect">
                <a:avLst/>
              </a:prstGeom>
              <a:blipFill>
                <a:blip r:embed="rId2"/>
                <a:stretch>
                  <a:fillRect l="-1161" t="-4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919C1EE-FB46-ADBB-9BCC-8A2F681DF87C}"/>
              </a:ext>
            </a:extLst>
          </p:cNvPr>
          <p:cNvSpPr txBox="1"/>
          <p:nvPr/>
        </p:nvSpPr>
        <p:spPr>
          <a:xfrm>
            <a:off x="758757" y="2422187"/>
            <a:ext cx="4815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PSP measures how reliably the system can detect a target.</a:t>
            </a:r>
            <a:endParaRPr lang="en-IN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D8F1C9-CF4F-10F2-1EAA-4C87326FE01E}"/>
                  </a:ext>
                </a:extLst>
              </p:cNvPr>
              <p:cNvSpPr txBox="1"/>
              <p:nvPr/>
            </p:nvSpPr>
            <p:spPr>
              <a:xfrm>
                <a:off x="758757" y="3511685"/>
                <a:ext cx="481519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🔹 2. CCP — Communication Coverage     Probability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𝑃</m:t>
                          </m:r>
                        </m:e>
                        <m:sub>
                          <m:r>
                            <a:rPr lang="ar-AE" i="1"/>
                            <m:t>𝑐</m:t>
                          </m:r>
                        </m:sub>
                      </m:sSub>
                      <m:r>
                        <a:rPr lang="ar-AE"/>
                        <m:t>=</m:t>
                      </m:r>
                      <m:r>
                        <a:rPr lang="ar-AE" i="1"/>
                        <m:t>𝑃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𝛾</m:t>
                              </m:r>
                            </m:e>
                            <m:sub>
                              <m:r>
                                <a:rPr lang="ar-AE" i="1"/>
                                <m:t>𝑐</m:t>
                              </m:r>
                            </m:sub>
                          </m:sSub>
                          <m:r>
                            <a:rPr lang="ar-AE"/>
                            <m:t>&gt;</m:t>
                          </m:r>
                          <m:r>
                            <a:rPr lang="ar-AE" i="1"/>
                            <m:t>𝜖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D8F1C9-CF4F-10F2-1EAA-4C87326FE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757" y="3511685"/>
                <a:ext cx="4815192" cy="1200329"/>
              </a:xfrm>
              <a:prstGeom prst="rect">
                <a:avLst/>
              </a:prstGeom>
              <a:blipFill>
                <a:blip r:embed="rId3"/>
                <a:stretch>
                  <a:fillRect l="-1013" t="-30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7F77705-58AC-CF4C-E2C1-DA426ADB9E46}"/>
              </a:ext>
            </a:extLst>
          </p:cNvPr>
          <p:cNvSpPr txBox="1"/>
          <p:nvPr/>
        </p:nvSpPr>
        <p:spPr>
          <a:xfrm>
            <a:off x="894945" y="4712014"/>
            <a:ext cx="4387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CCP measures how reliably data can be transmitted over the network.</a:t>
            </a:r>
            <a:endParaRPr lang="en-IN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2834F6-C8C2-DC39-A189-B64CC293774F}"/>
                  </a:ext>
                </a:extLst>
              </p:cNvPr>
              <p:cNvSpPr txBox="1"/>
              <p:nvPr/>
            </p:nvSpPr>
            <p:spPr>
              <a:xfrm>
                <a:off x="6235430" y="1325563"/>
                <a:ext cx="4834647" cy="945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🔹 3. JPISAC — Joint Probability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𝑃</m:t>
                          </m:r>
                        </m:e>
                        <m:sub>
                          <m:r>
                            <a:rPr lang="ar-AE" i="1"/>
                            <m:t>𝑗</m:t>
                          </m:r>
                        </m:sub>
                      </m:sSub>
                      <m:r>
                        <a:rPr lang="ar-AE"/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𝑃</m:t>
                          </m:r>
                        </m:e>
                        <m:sub>
                          <m:r>
                            <a:rPr lang="ar-AE" i="1"/>
                            <m:t>𝑠</m:t>
                          </m:r>
                        </m:sub>
                      </m:sSub>
                      <m:r>
                        <a:rPr lang="ar-AE"/>
                        <m:t>×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𝑃</m:t>
                          </m:r>
                        </m:e>
                        <m:sub>
                          <m:r>
                            <a:rPr lang="ar-AE" i="1"/>
                            <m:t>𝑐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2834F6-C8C2-DC39-A189-B64CC2937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430" y="1325563"/>
                <a:ext cx="4834647" cy="945643"/>
              </a:xfrm>
              <a:prstGeom prst="rect">
                <a:avLst/>
              </a:prstGeom>
              <a:blipFill>
                <a:blip r:embed="rId4"/>
                <a:stretch>
                  <a:fillRect l="-1135" t="-38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1EAFA9F-2B2C-4D29-FEF3-D545625FDCDB}"/>
              </a:ext>
            </a:extLst>
          </p:cNvPr>
          <p:cNvSpPr txBox="1"/>
          <p:nvPr/>
        </p:nvSpPr>
        <p:spPr>
          <a:xfrm>
            <a:off x="6462409" y="2357957"/>
            <a:ext cx="4970834" cy="945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JPISAC captures the overall system reliability when both sensing and communication must succeed simultaneously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474626-5823-1C43-E3A5-6A5186482BEF}"/>
              </a:ext>
            </a:extLst>
          </p:cNvPr>
          <p:cNvSpPr txBox="1"/>
          <p:nvPr/>
        </p:nvSpPr>
        <p:spPr>
          <a:xfrm>
            <a:off x="6478621" y="3511685"/>
            <a:ext cx="5145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PSP and CCP are not independent — they are coupled through interference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9229FF-FC77-43FE-F4CF-7F0D0911F24B}"/>
              </a:ext>
            </a:extLst>
          </p:cNvPr>
          <p:cNvSpPr txBox="1"/>
          <p:nvPr/>
        </p:nvSpPr>
        <p:spPr>
          <a:xfrm>
            <a:off x="6478621" y="4562272"/>
            <a:ext cx="4173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Improving one often degrades the other (trade-off)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253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D93A08-E3AF-2275-B5A1-6C665FA54603}"/>
              </a:ext>
            </a:extLst>
          </p:cNvPr>
          <p:cNvSpPr txBox="1"/>
          <p:nvPr/>
        </p:nvSpPr>
        <p:spPr>
          <a:xfrm>
            <a:off x="291830" y="252919"/>
            <a:ext cx="5729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Simulation Results &amp; Observations</a:t>
            </a:r>
            <a:endParaRPr lang="en-IN" sz="2800" b="1" u="sng" dirty="0">
              <a:latin typeface="Book Antiqua" panose="0204060205030503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9E517C-AE4B-5D29-5569-741525A75CC5}"/>
              </a:ext>
            </a:extLst>
          </p:cNvPr>
          <p:cNvSpPr/>
          <p:nvPr/>
        </p:nvSpPr>
        <p:spPr>
          <a:xfrm>
            <a:off x="573929" y="1144621"/>
            <a:ext cx="3249039" cy="176070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71A4C3-9C3F-C5CD-7CA3-4AD5C3B7B2F2}"/>
              </a:ext>
            </a:extLst>
          </p:cNvPr>
          <p:cNvSpPr/>
          <p:nvPr/>
        </p:nvSpPr>
        <p:spPr>
          <a:xfrm>
            <a:off x="573929" y="4169923"/>
            <a:ext cx="3249039" cy="176070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D9E998-4B12-8248-51EC-9202950BD22B}"/>
              </a:ext>
            </a:extLst>
          </p:cNvPr>
          <p:cNvSpPr/>
          <p:nvPr/>
        </p:nvSpPr>
        <p:spPr>
          <a:xfrm>
            <a:off x="4225047" y="4169923"/>
            <a:ext cx="3249039" cy="1760706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283A6E-6514-1C7A-DD49-1CD684A640AF}"/>
              </a:ext>
            </a:extLst>
          </p:cNvPr>
          <p:cNvSpPr/>
          <p:nvPr/>
        </p:nvSpPr>
        <p:spPr>
          <a:xfrm>
            <a:off x="4225046" y="1144621"/>
            <a:ext cx="3249039" cy="1760706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723F90-FED2-6025-46DD-C9A825AED1F3}"/>
              </a:ext>
            </a:extLst>
          </p:cNvPr>
          <p:cNvSpPr/>
          <p:nvPr/>
        </p:nvSpPr>
        <p:spPr>
          <a:xfrm>
            <a:off x="8064229" y="4169923"/>
            <a:ext cx="3249039" cy="1760706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5F4ABC-53F6-8A12-B698-272EC6ADE8B9}"/>
              </a:ext>
            </a:extLst>
          </p:cNvPr>
          <p:cNvSpPr/>
          <p:nvPr/>
        </p:nvSpPr>
        <p:spPr>
          <a:xfrm>
            <a:off x="8064229" y="1144621"/>
            <a:ext cx="3249039" cy="1760706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DB5CC9-3FA4-07E5-4BE4-5BB11D60A599}"/>
              </a:ext>
            </a:extLst>
          </p:cNvPr>
          <p:cNvSpPr txBox="1"/>
          <p:nvPr/>
        </p:nvSpPr>
        <p:spPr>
          <a:xfrm>
            <a:off x="573928" y="3149600"/>
            <a:ext cx="36511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Signal power ∝ d⁻²α → rapidly decays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Sensing becomes unreliable at larger distances due to severe path loss.</a:t>
            </a:r>
            <a:endParaRPr lang="en-IN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BB41C1-23B5-FBDA-B174-8215C9AAEE9D}"/>
              </a:ext>
            </a:extLst>
          </p:cNvPr>
          <p:cNvSpPr txBox="1"/>
          <p:nvPr/>
        </p:nvSpPr>
        <p:spPr>
          <a:xfrm>
            <a:off x="4225045" y="3149600"/>
            <a:ext cx="3249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Only </a:t>
            </a:r>
            <a:r>
              <a:rPr lang="en-US" sz="1200" b="1" dirty="0"/>
              <a:t>high SIR cases survive</a:t>
            </a:r>
            <a:r>
              <a:rPr lang="en-US" sz="1200" dirty="0"/>
              <a:t>, lowering overall sensing probability.</a:t>
            </a:r>
            <a:endParaRPr lang="en-IN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974F73-A47C-FF6D-A23C-5F31D7F18A53}"/>
              </a:ext>
            </a:extLst>
          </p:cNvPr>
          <p:cNvSpPr txBox="1"/>
          <p:nvPr/>
        </p:nvSpPr>
        <p:spPr>
          <a:xfrm>
            <a:off x="8064229" y="3180080"/>
            <a:ext cx="2939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More RSUs → </a:t>
            </a:r>
            <a:r>
              <a:rPr lang="en-US" sz="1200" b="1" dirty="0"/>
              <a:t>more interference than useful gain</a:t>
            </a:r>
            <a:r>
              <a:rPr lang="en-US" sz="1200" dirty="0"/>
              <a:t>.</a:t>
            </a:r>
            <a:endParaRPr lang="en-IN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FC33AE-8A9E-32F2-00B8-99E66BDD87F9}"/>
              </a:ext>
            </a:extLst>
          </p:cNvPr>
          <p:cNvSpPr txBox="1"/>
          <p:nvPr/>
        </p:nvSpPr>
        <p:spPr>
          <a:xfrm>
            <a:off x="604408" y="6136640"/>
            <a:ext cx="339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Only </a:t>
            </a:r>
            <a:r>
              <a:rPr lang="en-US" sz="1200" b="1" dirty="0"/>
              <a:t>strong links remain</a:t>
            </a:r>
            <a:r>
              <a:rPr lang="en-US" sz="1200" dirty="0"/>
              <a:t>, reducing coverage probability.</a:t>
            </a:r>
            <a:endParaRPr lang="en-IN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DC9DEE-4B6D-B17E-6440-16C07097E496}"/>
              </a:ext>
            </a:extLst>
          </p:cNvPr>
          <p:cNvSpPr txBox="1"/>
          <p:nvPr/>
        </p:nvSpPr>
        <p:spPr>
          <a:xfrm>
            <a:off x="4225045" y="6136640"/>
            <a:ext cx="339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Network becomes </a:t>
            </a:r>
            <a:r>
              <a:rPr lang="en-US" sz="1200" b="1" dirty="0"/>
              <a:t>interference-limited at high density</a:t>
            </a:r>
            <a:r>
              <a:rPr lang="en-US" sz="1200" dirty="0"/>
              <a:t>.</a:t>
            </a:r>
            <a:endParaRPr lang="en-IN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65C3FC-034C-C332-6999-309464C6DF41}"/>
              </a:ext>
            </a:extLst>
          </p:cNvPr>
          <p:cNvSpPr txBox="1"/>
          <p:nvPr/>
        </p:nvSpPr>
        <p:spPr>
          <a:xfrm>
            <a:off x="8064228" y="6136639"/>
            <a:ext cx="3249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Joint success is </a:t>
            </a:r>
            <a:r>
              <a:rPr lang="en-US" sz="1200" b="1" dirty="0"/>
              <a:t>more sensitive to distance than individual metrics</a:t>
            </a:r>
            <a:r>
              <a:rPr lang="en-US" sz="1200" dirty="0"/>
              <a:t>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504555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CB2B93-FFF2-E8D7-996D-398937141942}"/>
              </a:ext>
            </a:extLst>
          </p:cNvPr>
          <p:cNvSpPr/>
          <p:nvPr/>
        </p:nvSpPr>
        <p:spPr>
          <a:xfrm>
            <a:off x="505838" y="1031131"/>
            <a:ext cx="3249039" cy="176070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DC480F-6241-9ECE-272A-B279889B8107}"/>
              </a:ext>
            </a:extLst>
          </p:cNvPr>
          <p:cNvSpPr/>
          <p:nvPr/>
        </p:nvSpPr>
        <p:spPr>
          <a:xfrm>
            <a:off x="8437125" y="1031131"/>
            <a:ext cx="3249039" cy="176070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3950A6-4A6F-DBF7-EC15-FCA633CD8136}"/>
              </a:ext>
            </a:extLst>
          </p:cNvPr>
          <p:cNvSpPr/>
          <p:nvPr/>
        </p:nvSpPr>
        <p:spPr>
          <a:xfrm>
            <a:off x="4361234" y="1031131"/>
            <a:ext cx="3249039" cy="1760706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DC0C0-360F-789A-6238-2D83CAF55A50}"/>
              </a:ext>
            </a:extLst>
          </p:cNvPr>
          <p:cNvSpPr txBox="1"/>
          <p:nvPr/>
        </p:nvSpPr>
        <p:spPr>
          <a:xfrm>
            <a:off x="505838" y="3037840"/>
            <a:ext cx="3249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Joint metric drops faster since it depends on both links.</a:t>
            </a:r>
            <a:endParaRPr lang="en-IN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47D8B-36F5-713E-84AD-EDBDB735E5C5}"/>
              </a:ext>
            </a:extLst>
          </p:cNvPr>
          <p:cNvSpPr txBox="1"/>
          <p:nvPr/>
        </p:nvSpPr>
        <p:spPr>
          <a:xfrm>
            <a:off x="4361233" y="3068320"/>
            <a:ext cx="3249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Improving sensing </a:t>
            </a:r>
            <a:r>
              <a:rPr lang="en-US" sz="1200" b="1" dirty="0"/>
              <a:t>comes at the cost of communication performance</a:t>
            </a:r>
            <a:r>
              <a:rPr lang="en-US" sz="1200" dirty="0"/>
              <a:t>.</a:t>
            </a:r>
            <a:endParaRPr lang="en-IN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55CD42-4229-30DB-D727-4D2EA118B191}"/>
              </a:ext>
            </a:extLst>
          </p:cNvPr>
          <p:cNvSpPr txBox="1"/>
          <p:nvPr/>
        </p:nvSpPr>
        <p:spPr>
          <a:xfrm>
            <a:off x="8437125" y="3068320"/>
            <a:ext cx="3249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Increasing sensing allocation </a:t>
            </a:r>
            <a:r>
              <a:rPr lang="en-US" sz="1200" b="1" dirty="0"/>
              <a:t>reduces interference for communication</a:t>
            </a:r>
            <a:endParaRPr lang="en-IN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E241DC-6ACD-E85C-8007-8BECC4F88D28}"/>
              </a:ext>
            </a:extLst>
          </p:cNvPr>
          <p:cNvSpPr txBox="1"/>
          <p:nvPr/>
        </p:nvSpPr>
        <p:spPr>
          <a:xfrm>
            <a:off x="505838" y="3972560"/>
            <a:ext cx="11180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trends are governed by the interplay of path loss and interference in a stochastic network.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73AFCB-9823-AAEA-56FA-FB99C481954B}"/>
              </a:ext>
            </a:extLst>
          </p:cNvPr>
          <p:cNvSpPr txBox="1"/>
          <p:nvPr/>
        </p:nvSpPr>
        <p:spPr>
          <a:xfrm>
            <a:off x="694123" y="4495562"/>
            <a:ext cx="45484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Applications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Autonomous Vehicles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Intelligent Transportation Systems (ITS)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Vehicle-to-Everything (V2X)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Smart Cities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Radar-Communication Systems (ISAC)</a:t>
            </a:r>
            <a:endParaRPr lang="en-IN" b="1" dirty="0">
              <a:latin typeface="Book Antiqua" panose="0204060205030503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BCE140-AE58-333C-699C-0129A90363C9}"/>
              </a:ext>
            </a:extLst>
          </p:cNvPr>
          <p:cNvSpPr txBox="1"/>
          <p:nvPr/>
        </p:nvSpPr>
        <p:spPr>
          <a:xfrm>
            <a:off x="5935602" y="4495562"/>
            <a:ext cx="575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  <a:hlinkClick r:id="rId5"/>
              </a:rPr>
              <a:t>Resources and my work </a:t>
            </a:r>
            <a:br>
              <a:rPr lang="en-US" dirty="0"/>
            </a:br>
            <a:r>
              <a:rPr lang="en-US" dirty="0"/>
              <a:t>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5899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ECCA3-9942-5490-ACBF-812BE8AD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   </a:t>
            </a:r>
            <a:r>
              <a:rPr lang="en-IN" sz="3600" u="sng" dirty="0">
                <a:latin typeface="Book Antiqua" panose="02040602050305030304" pitchFamily="18" charset="0"/>
              </a:rPr>
              <a:t>Observations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D6A44B-A9E2-A637-B70D-14F9011EE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60" y="1098916"/>
            <a:ext cx="3467400" cy="25986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430894-B47A-B881-888D-22E28044E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791" y="1057002"/>
            <a:ext cx="3795089" cy="52811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442452-665E-73FC-3471-CA220AEDBF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613" y="1098916"/>
            <a:ext cx="3726503" cy="24690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C8FB85-8A00-6446-00D2-307A130AB63B}"/>
              </a:ext>
            </a:extLst>
          </p:cNvPr>
          <p:cNvSpPr txBox="1"/>
          <p:nvPr/>
        </p:nvSpPr>
        <p:spPr>
          <a:xfrm>
            <a:off x="477520" y="4073585"/>
            <a:ext cx="538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 performance is primarily limited by interference and path loss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E8F3A9-E5D5-9951-833B-386F66F5D254}"/>
              </a:ext>
            </a:extLst>
          </p:cNvPr>
          <p:cNvSpPr txBox="1"/>
          <p:nvPr/>
        </p:nvSpPr>
        <p:spPr>
          <a:xfrm>
            <a:off x="447040" y="5049520"/>
            <a:ext cx="582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Distance and threshold selection critically affect reliability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B8572D-9F23-D09C-E7D2-163612274357}"/>
              </a:ext>
            </a:extLst>
          </p:cNvPr>
          <p:cNvSpPr txBox="1"/>
          <p:nvPr/>
        </p:nvSpPr>
        <p:spPr>
          <a:xfrm>
            <a:off x="447040" y="5882640"/>
            <a:ext cx="608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 performance degrades faster than individual metrics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127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74084-2FB7-C7CF-911D-5E0F817E8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u="sng" dirty="0">
                <a:latin typeface="Book Antiqua" panose="02040602050305030304" pitchFamily="18" charset="0"/>
              </a:rPr>
              <a:t>Trade-off Analysis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B586E7-BE7D-D537-EC2C-506290174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681036"/>
            <a:ext cx="5567680" cy="347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4E958C-F319-1B21-7E95-5DE4E98BFBA4}"/>
              </a:ext>
            </a:extLst>
          </p:cNvPr>
          <p:cNvSpPr txBox="1"/>
          <p:nvPr/>
        </p:nvSpPr>
        <p:spPr>
          <a:xfrm>
            <a:off x="406400" y="1343818"/>
            <a:ext cx="6614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PSP ↑ → CCP ↓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Sensing and communication </a:t>
            </a:r>
            <a:r>
              <a:rPr lang="en-US" b="1" dirty="0"/>
              <a:t>compete for resources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486AE8-3AF7-ADF1-A433-D719CCE34965}"/>
              </a:ext>
            </a:extLst>
          </p:cNvPr>
          <p:cNvSpPr txBox="1"/>
          <p:nvPr/>
        </p:nvSpPr>
        <p:spPr>
          <a:xfrm>
            <a:off x="406400" y="2448560"/>
            <a:ext cx="63093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Reason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share </a:t>
            </a:r>
            <a:r>
              <a:rPr lang="en-US" b="1" dirty="0"/>
              <a:t>same interference environment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Increasing sensing activity: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↑ interference for sensing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↓ interference for communication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515AF6-4C69-DF45-F82C-76BCD819F6F1}"/>
              </a:ext>
            </a:extLst>
          </p:cNvPr>
          <p:cNvSpPr txBox="1"/>
          <p:nvPr/>
        </p:nvSpPr>
        <p:spPr>
          <a:xfrm>
            <a:off x="568960" y="4202886"/>
            <a:ext cx="36169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System is </a:t>
            </a:r>
            <a:r>
              <a:rPr lang="en-IN" b="1" dirty="0"/>
              <a:t>interference-limited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SIR determines success probability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 depends on:</a:t>
            </a:r>
          </a:p>
          <a:p>
            <a:r>
              <a:rPr lang="en-US" dirty="0"/>
              <a:t>       distance </a:t>
            </a:r>
          </a:p>
          <a:p>
            <a:r>
              <a:rPr lang="en-US" dirty="0"/>
              <a:t>       density </a:t>
            </a:r>
          </a:p>
          <a:p>
            <a:r>
              <a:rPr lang="en-US" dirty="0"/>
              <a:t>       threshold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Proper tuning of </a:t>
            </a:r>
            <a:r>
              <a:rPr lang="en-US" b="1" dirty="0"/>
              <a:t>β is essential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E6C662-08B8-2BB1-8E88-B3E701977043}"/>
              </a:ext>
            </a:extLst>
          </p:cNvPr>
          <p:cNvSpPr txBox="1"/>
          <p:nvPr/>
        </p:nvSpPr>
        <p:spPr>
          <a:xfrm>
            <a:off x="5882640" y="4640600"/>
            <a:ext cx="5953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Hence, optimal system design requires balancing resource allocation between sensing and communication.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2028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836</Words>
  <Application>Microsoft Office PowerPoint</Application>
  <PresentationFormat>Widescreen</PresentationFormat>
  <Paragraphs>154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Algerian</vt:lpstr>
      <vt:lpstr>Aptos</vt:lpstr>
      <vt:lpstr>Arial</vt:lpstr>
      <vt:lpstr>Book Antiqua</vt:lpstr>
      <vt:lpstr>Calibri</vt:lpstr>
      <vt:lpstr>Calibri Light</vt:lpstr>
      <vt:lpstr>Office Theme</vt:lpstr>
      <vt:lpstr>Joint Sensing-Communication Performance Analysis in ISAC-enabled Vehicular Networks </vt:lpstr>
      <vt:lpstr>Problem Statement</vt:lpstr>
      <vt:lpstr>PowerPoint Presentation</vt:lpstr>
      <vt:lpstr>SIGNAL MODEL</vt:lpstr>
      <vt:lpstr>Interference &amp; SIR Analysis</vt:lpstr>
      <vt:lpstr>Performance Metrics</vt:lpstr>
      <vt:lpstr>PowerPoint Presentation</vt:lpstr>
      <vt:lpstr>PowerPoint Presentation</vt:lpstr>
      <vt:lpstr>   Observations</vt:lpstr>
      <vt:lpstr>Trade-off Analysis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Kumar</dc:creator>
  <cp:lastModifiedBy>Ankit Kumar</cp:lastModifiedBy>
  <cp:revision>2</cp:revision>
  <dcterms:created xsi:type="dcterms:W3CDTF">2026-04-17T21:57:51Z</dcterms:created>
  <dcterms:modified xsi:type="dcterms:W3CDTF">2026-04-18T11:45:11Z</dcterms:modified>
</cp:coreProperties>
</file>